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Slide 1 — Functional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</a:rPr>
              <a:t>What the system does, from the user's perspective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HIT Campus Navigation  |  Advanced Programming in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379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1 /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530352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69E"/>
                </a:solidFill>
              </a:rPr>
              <a:t>Core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1E2E"/>
                </a:solidFill>
              </a:rPr>
              <a:t>• Find shortest / fewest-stop route between any two HIT campus buildings</a:t>
            </a:r>
          </a:p>
          <a:p>
            <a:pPr algn="l"/>
            <a:r>
              <a:rPr sz="1300">
                <a:solidFill>
                  <a:srgbClr val="1E1E2E"/>
                </a:solidFill>
              </a:rPr>
              <a:t>• Two algorithms selectable by the user:</a:t>
            </a:r>
          </a:p>
          <a:p>
            <a:pPr algn="l"/>
            <a:r>
              <a:rPr sz="1300">
                <a:solidFill>
                  <a:srgbClr val="1E1E2E"/>
                </a:solidFill>
              </a:rPr>
              <a:t>•    Dijkstra  →  FASTEST (weighted path by walking distance)</a:t>
            </a:r>
          </a:p>
          <a:p>
            <a:pPr algn="l"/>
            <a:r>
              <a:rPr sz="1300">
                <a:solidFill>
                  <a:srgbClr val="1E1E2E"/>
                </a:solidFill>
              </a:rPr>
              <a:t>•    BFS  →  FEWEST_SEGMENTS (minimum number of walkways)</a:t>
            </a:r>
          </a:p>
          <a:p>
            <a:pPr algn="l"/>
            <a:r>
              <a:rPr sz="1300">
                <a:solidFill>
                  <a:srgbClr val="1E1E2E"/>
                </a:solidFill>
              </a:rPr>
              <a:t>• Isometric 3D campus view with animated walking pin</a:t>
            </a:r>
          </a:p>
          <a:p>
            <a:pPr algn="l"/>
            <a:r>
              <a:rPr sz="1300">
                <a:solidFill>
                  <a:srgbClr val="1E1E2E"/>
                </a:solidFill>
              </a:rPr>
              <a:t>• Real OpenStreetMap tile view via Leaflet.js (JavaFX WebView)</a:t>
            </a:r>
          </a:p>
          <a:p>
            <a:pPr algn="l"/>
            <a:r>
              <a:rPr sz="1300">
                <a:solidFill>
                  <a:srgbClr val="1E1E2E"/>
                </a:solidFill>
              </a:rPr>
              <a:t>• Route history: browse past queries, clear history</a:t>
            </a:r>
          </a:p>
          <a:p>
            <a:pPr algn="l"/>
            <a:r>
              <a:rPr sz="1300">
                <a:solidFill>
                  <a:srgbClr val="1E1E2E"/>
                </a:solidFill>
              </a:rPr>
              <a:t>• Both views update simultaneously on every route 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280160"/>
            <a:ext cx="603504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3258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A87"/>
                </a:solidFill>
              </a:rPr>
              <a:t>User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82880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1E2E"/>
                </a:solidFill>
              </a:rPr>
              <a:t>• 1. Launch server  →  mvn exec:java@server -pl server</a:t>
            </a:r>
          </a:p>
          <a:p>
            <a:pPr algn="l"/>
            <a:r>
              <a:rPr sz="1300">
                <a:solidFill>
                  <a:srgbClr val="1E1E2E"/>
                </a:solidFill>
              </a:rPr>
              <a:t>• 2. Launch client  →  mvn javafx:run -pl client</a:t>
            </a:r>
          </a:p>
          <a:p>
            <a:pPr algn="l"/>
            <a:r>
              <a:rPr sz="1300">
                <a:solidFill>
                  <a:srgbClr val="1E1E2E"/>
                </a:solidFill>
              </a:rPr>
              <a:t>• 3. Select 'From' and 'To' buildings from drop-downs</a:t>
            </a:r>
          </a:p>
          <a:p>
            <a:pPr algn="l"/>
            <a:r>
              <a:rPr sz="1300">
                <a:solidFill>
                  <a:srgbClr val="1E1E2E"/>
                </a:solidFill>
              </a:rPr>
              <a:t>• 4. Choose mode: Fastest (Dijkstra) or Fewest Stops (BFS)</a:t>
            </a:r>
          </a:p>
          <a:p>
            <a:pPr algn="l"/>
            <a:r>
              <a:rPr sz="1300">
                <a:solidFill>
                  <a:srgbClr val="1E1E2E"/>
                </a:solidFill>
              </a:rPr>
              <a:t>• 5. Click  Find Route  — route highlights in both views</a:t>
            </a:r>
          </a:p>
          <a:p>
            <a:pPr algn="l"/>
            <a:r>
              <a:rPr sz="1300">
                <a:solidFill>
                  <a:srgbClr val="1E1E2E"/>
                </a:solidFill>
              </a:rPr>
              <a:t>• 6. Walker animation traces the path on the 3D canvas</a:t>
            </a:r>
          </a:p>
          <a:p>
            <a:pPr algn="l"/>
            <a:r>
              <a:rPr sz="1300">
                <a:solidFill>
                  <a:srgbClr val="1E1E2E"/>
                </a:solidFill>
              </a:rPr>
              <a:t>• 7. Switch to Real Map tab to see the GPS-accurate overlay</a:t>
            </a:r>
          </a:p>
          <a:p>
            <a:pPr algn="l"/>
            <a:r>
              <a:rPr sz="1300">
                <a:solidFill>
                  <a:srgbClr val="1E1E2E"/>
                </a:solidFill>
              </a:rPr>
              <a:t>• 8. Open History tab to review or clear past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530352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77"/>
                </a:solidFill>
              </a:rPr>
              <a:t>Campus: 13 HIT buildings, real GPS coordinates, weighted walkways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Slide 2 — HL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</a:rPr>
              <a:t>Component overview and design patterns applied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HIT Campus Navigation  |  Advanced Programming in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379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2 /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3566160" cy="5074920"/>
          </a:xfrm>
          <a:prstGeom prst="rect">
            <a:avLst/>
          </a:prstGeom>
          <a:solidFill>
            <a:srgbClr val="E8F4FD"/>
          </a:solidFill>
          <a:ln w="12700">
            <a:solidFill>
              <a:srgbClr val="1A5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69080" y="1280160"/>
            <a:ext cx="3566160" cy="5074920"/>
          </a:xfrm>
          <a:prstGeom prst="rect">
            <a:avLst/>
          </a:prstGeom>
          <a:solidFill>
            <a:srgbClr val="E8F8F0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1280160"/>
            <a:ext cx="3566160" cy="5074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716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569E"/>
                </a:solidFill>
              </a:rPr>
              <a:t>algorithm  (JAR)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83080"/>
            <a:ext cx="33832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E1E2E"/>
                </a:solidFill>
              </a:rPr>
              <a:t>• IAlgoShortestPath  (Strategy interface)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AbstractAlgoShortestPath  (Template Method)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DijkstraAlgoShortestPathImpl  — weighted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BFSAlgoShortestPathImpl  — unweighted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Graph  (adjacency list)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Standalone JAR → added as library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dependency by the server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3716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A87"/>
                </a:solidFill>
              </a:rPr>
              <a:t>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783080"/>
            <a:ext cx="33832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E1E2E"/>
                </a:solidFill>
              </a:rPr>
              <a:t>• ServerMain  →  Server (Runnable)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ClientHandler  per TCP connection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RequestDispatcher → ControllerFactory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  (Factory Pattern)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Controllers (IController interface):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  RouteController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  HistoryGetController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  HistoryClearController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Services: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  NavigationService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  HistoryService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DAO (IDao interface):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  FileCampusDAO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  FileHistoryDAO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Protocol: ServerRequest / ServerResponse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  {headers:{action:...}, body:{...}}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Decorator: Scanner + PrintWriter wrappers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3716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</a:rPr>
              <a:t>client  (JavaFX)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1783080"/>
            <a:ext cx="33832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E1E2E"/>
                </a:solidFill>
              </a:rPr>
              <a:t>• ClientApp  (JavaFX Application)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ClientViewController  (View — MVC)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ClientController  (Controller — MVC)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NavigationClient  (Socket wrapper)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Views: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  SchematicCanvas  (Canvas + AnimationTimer)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  LeafletMapView  (WebView + Leaflet.js)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  History TableView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Loosely coupled from server: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  only shared protocol/domain classes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  no direct service or DAO references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MVC: view fires events to controller;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  controller calls NavigationClient;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  callbacks update UI via Platform.runLater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65760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66666"/>
                </a:solidFill>
              </a:rPr>
              <a:t>depends
on JAR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65760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66666"/>
                </a:solidFill>
              </a:rPr>
              <a:t>TCP JSON
protocol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Slide 3 —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</a:rPr>
              <a:t>Technical problems encountered and how they were solved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HIT Campus Navigation  |  Advanced Programming in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379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3 /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99032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69E"/>
                </a:solidFill>
              </a:rPr>
              <a:t>1  JavaFX Map Rendering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28216"/>
            <a:ext cx="5449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Replacing Swing JXMapViewer2 with a JavaFX-native solution. Solution: embedded Leaflet.js inside a JavaFX WebView. Building GPS coordinates are injected from Java into the HTML at page-load time; route overlays are driven via engine.executeScript() calls.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399032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69E"/>
                </a:solidFill>
              </a:rPr>
              <a:t>2  Module System &amp; JavaFX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728216"/>
            <a:ext cx="5449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JavaFX requires explicit module declarations but the project avoids module-info.java to keep things simple. Solution: javafx-maven-plugin 0.0.8, which automatically adds --module-path and --add-modules to the JVM launch command.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71800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044952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69E"/>
                </a:solidFill>
              </a:rPr>
              <a:t>3  Multi-Module Maven Dependency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374136"/>
            <a:ext cx="5449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The algorithm module must be a standalone JAR consumed by the server. Solution: Maven multi-module parent (packaging=pom) with three child modules; server pom.xml declares &lt;dependency&gt; on algorithm artifact. maven-shade-plugin produces an executable fat-jar for the server.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71800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3044952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69E"/>
                </a:solidFill>
              </a:rPr>
              <a:t>4  Isometric Projection Math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374136"/>
            <a:ext cx="5449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Rendering 13 buildings in a convincing isometric 3D view required pure-Java geometry (no game engine). Solution: IsometricProjection class converts world (x, y) to screen coordinates with a tilt angle, enabling a smooth 0°→45° slider from top-down to isometric.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17720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690872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69E"/>
                </a:solidFill>
              </a:rPr>
              <a:t>5  Thread Safety in MVC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5020056"/>
            <a:ext cx="5449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NavigationClient I/O runs on background threads; JavaFX requires UI updates on the FX Application Thread. Solution: all callbacks in ClientViewController are wrapped in Platform.runLater(), keeping the controller framework-agnostic (no JavaFX imports in ClientController).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617720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4690872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69E"/>
                </a:solidFill>
              </a:rPr>
              <a:t>6  TCP Protocol Envelope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5020056"/>
            <a:ext cx="5449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Client and server needed a versioned, extensible message format. Solution: JSON envelope {headers:{action:...}, body:{...}} mirroring HTTP. ControllerFactory (Factory Pattern) dispatches by action string, making it trivial to add new API endpoints without modifying existing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